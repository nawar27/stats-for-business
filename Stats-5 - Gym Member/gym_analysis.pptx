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800" b="0" i="0" u="none" strike="noStrike">
                <a:solidFill>
                  <a:srgbClr val="000000"/>
                </a:solidFill>
                <a:latin typeface="Arial"/>
              </a:rPr>
              <a:t>Session Duration (hrs) vs Calories Burned — Raw Scatter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0.5</c:v>
                </c:pt>
                <c:pt idx="1">
                  <c:v>0.7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  <c:pt idx="11">
                  <c:v>1.8</c:v>
                </c:pt>
                <c:pt idx="12">
                  <c:v>1.9</c:v>
                </c:pt>
                <c:pt idx="13">
                  <c:v>2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303</c:v>
                </c:pt>
                <c:pt idx="1">
                  <c:v>400</c:v>
                </c:pt>
                <c:pt idx="2">
                  <c:v>550</c:v>
                </c:pt>
                <c:pt idx="3">
                  <c:v>620</c:v>
                </c:pt>
                <c:pt idx="4">
                  <c:v>720</c:v>
                </c:pt>
                <c:pt idx="5">
                  <c:v>820</c:v>
                </c:pt>
                <c:pt idx="6">
                  <c:v>893</c:v>
                </c:pt>
                <c:pt idx="7">
                  <c:v>950</c:v>
                </c:pt>
                <c:pt idx="8">
                  <c:v>1050</c:v>
                </c:pt>
                <c:pt idx="9">
                  <c:v>1100</c:v>
                </c:pt>
                <c:pt idx="10">
                  <c:v>1200</c:v>
                </c:pt>
                <c:pt idx="11">
                  <c:v>1300</c:v>
                </c:pt>
                <c:pt idx="12">
                  <c:v>1450</c:v>
                </c:pt>
                <c:pt idx="13">
                  <c:v>1600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40-44A6-BDFA-ECBA855411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Data and Fitted Regression Line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Points</c:v>
                </c:pt>
              </c:strCache>
            </c:strRef>
          </c:tx>
          <c:spPr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0.5</c:v>
                </c:pt>
                <c:pt idx="1">
                  <c:v>0.7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  <c:pt idx="11">
                  <c:v>1.8</c:v>
                </c:pt>
                <c:pt idx="12">
                  <c:v>1.9</c:v>
                </c:pt>
                <c:pt idx="13">
                  <c:v>2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303</c:v>
                </c:pt>
                <c:pt idx="1">
                  <c:v>400</c:v>
                </c:pt>
                <c:pt idx="2">
                  <c:v>550</c:v>
                </c:pt>
                <c:pt idx="3">
                  <c:v>620</c:v>
                </c:pt>
                <c:pt idx="4">
                  <c:v>720</c:v>
                </c:pt>
                <c:pt idx="5">
                  <c:v>820</c:v>
                </c:pt>
                <c:pt idx="6">
                  <c:v>893</c:v>
                </c:pt>
                <c:pt idx="7">
                  <c:v>950</c:v>
                </c:pt>
                <c:pt idx="8">
                  <c:v>1050</c:v>
                </c:pt>
                <c:pt idx="9">
                  <c:v>1100</c:v>
                </c:pt>
                <c:pt idx="10">
                  <c:v>1200</c:v>
                </c:pt>
                <c:pt idx="11">
                  <c:v>1300</c:v>
                </c:pt>
                <c:pt idx="12">
                  <c:v>1450</c:v>
                </c:pt>
                <c:pt idx="13">
                  <c:v>1600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0A-459D-A6FE-CA37787F74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X_fit</c:v>
                </c:pt>
              </c:strCache>
            </c:strRef>
          </c:tx>
          <c:spPr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0.5</c:v>
                </c:pt>
                <c:pt idx="1">
                  <c:v>0.7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  <c:pt idx="11">
                  <c:v>1.8</c:v>
                </c:pt>
                <c:pt idx="12">
                  <c:v>1.9</c:v>
                </c:pt>
                <c:pt idx="13">
                  <c:v>2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0.5</c:v>
                </c:pt>
                <c:pt idx="1">
                  <c:v>0.67</c:v>
                </c:pt>
                <c:pt idx="2">
                  <c:v>0.83</c:v>
                </c:pt>
                <c:pt idx="3">
                  <c:v>1</c:v>
                </c:pt>
                <c:pt idx="4">
                  <c:v>1.17</c:v>
                </c:pt>
                <c:pt idx="5">
                  <c:v>1.33</c:v>
                </c:pt>
                <c:pt idx="6">
                  <c:v>1.5</c:v>
                </c:pt>
                <c:pt idx="7">
                  <c:v>1.67</c:v>
                </c:pt>
                <c:pt idx="8">
                  <c:v>1.83</c:v>
                </c:pt>
                <c:pt idx="9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0A-459D-A6FE-CA37787F74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Fitted Line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0.5</c:v>
                </c:pt>
                <c:pt idx="1">
                  <c:v>0.7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  <c:pt idx="11">
                  <c:v>1.8</c:v>
                </c:pt>
                <c:pt idx="12">
                  <c:v>1.9</c:v>
                </c:pt>
                <c:pt idx="13">
                  <c:v>2</c:v>
                </c:pt>
              </c:numCache>
            </c:numRef>
          </c:xVal>
          <c:yVal>
            <c:numRef>
              <c:f>Sheet1!$D$2:$D$15</c:f>
              <c:numCache>
                <c:formatCode>General</c:formatCode>
                <c:ptCount val="14"/>
                <c:pt idx="0">
                  <c:v>359</c:v>
                </c:pt>
                <c:pt idx="1">
                  <c:v>482</c:v>
                </c:pt>
                <c:pt idx="2">
                  <c:v>598</c:v>
                </c:pt>
                <c:pt idx="3">
                  <c:v>720</c:v>
                </c:pt>
                <c:pt idx="4">
                  <c:v>843</c:v>
                </c:pt>
                <c:pt idx="5">
                  <c:v>959</c:v>
                </c:pt>
                <c:pt idx="6">
                  <c:v>1081</c:v>
                </c:pt>
                <c:pt idx="7">
                  <c:v>1204</c:v>
                </c:pt>
                <c:pt idx="8">
                  <c:v>1319</c:v>
                </c:pt>
                <c:pt idx="9">
                  <c:v>1442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40A-459D-A6FE-CA37787F74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90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Calories Burned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Analysis using 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 Exercise Tracking Dataset  •  n = 973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 Exercise Tracking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gym members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relationship between exercise duration and calories burned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Method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with one predictor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6400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Variables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Predictor: Session Duration (hours)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Calories Burned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1430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14300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 hrs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0.5 – 2.0 hrs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1430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143000"/>
            <a:ext cx="2011680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Calories Burned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5736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905.4 kcal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303 – 1,783 kcal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14300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14300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280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(Calories)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12864" y="1600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272.6 kcal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12864" y="2148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variability in output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834640"/>
          <a:ext cx="85953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Linear Regression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Calories_Burned  =  −1.45  +  721.79 × Session_Duration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1371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Estimate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Std Error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Intercept (α)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−1.4465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25.87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Calories at 0 hrs (not meaningful)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Session_Duration (β)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721.7860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19.75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Each +1 hr → +722 kcal on average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Model fitted using statsmodels.formula.api  (smf.ols)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Interpretation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691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 =  −1.45  +  721.79 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= −1.45: Predicted calories when duration = 0 hours.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meaningful in practice (no one exercises for 0 hours).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73152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Mean-Centered 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 =  905.4  +  721.79 (x − 1.3)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duration = average (1.3 hrs), predicted calories = 905.4.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intercept directly interpretable.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6451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Takeaway: Each additional hour of exercise → ~722 more calories burned on average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Line — Visual Fit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1188720"/>
            <a:ext cx="24688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(β)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37960" y="1536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721.79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1901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+722 kcal per hour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42316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423160"/>
            <a:ext cx="24688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532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(α)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7960" y="27706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37960" y="3136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duration = 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24688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3657600"/>
            <a:ext cx="24688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767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mean (1.3 hrs)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37960" y="4005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905.4 kcal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537960" y="43708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calories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linear relationship exists between session duration and calories burned.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OLS model explains the trend well with a slope of 721.79 kcal/hour.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average duration of 1.3 hours, members burn approximately 905.4 kcal.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mean-centered equation improves interpretability of the intercept.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416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form intercept (−1.45) is statistically not meaningful in practice.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 Exercise Tracking  |  OLS Regression Analysis  |  n = 973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407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Duration vs Calories Burned</dc:title>
  <dc:subject>PptxGenJS Presentation</dc:subject>
  <dc:creator>PptxGenJS</dc:creator>
  <cp:lastModifiedBy>Munawar .</cp:lastModifiedBy>
  <cp:revision>1</cp:revision>
  <dcterms:created xsi:type="dcterms:W3CDTF">2026-04-24T13:16:38Z</dcterms:created>
  <dcterms:modified xsi:type="dcterms:W3CDTF">2026-04-24T16:27:59Z</dcterms:modified>
</cp:coreProperties>
</file>